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94" r:id="rId2"/>
    <p:sldId id="271" r:id="rId3"/>
    <p:sldId id="295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99">
          <p15:clr>
            <a:srgbClr val="A4A3A4"/>
          </p15:clr>
        </p15:guide>
        <p15:guide id="2" pos="380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96" y="108"/>
      </p:cViewPr>
      <p:guideLst>
        <p:guide orient="horz" pos="2199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-4543" y="0"/>
            <a:ext cx="12207541" cy="7596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Google Shape;1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  <p:pic>
        <p:nvPicPr>
          <p:cNvPr id="16" name="Google Shape;16;p22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10999" y="5754414"/>
            <a:ext cx="12192000" cy="11171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22"/>
          <p:cNvGrpSpPr/>
          <p:nvPr/>
        </p:nvGrpSpPr>
        <p:grpSpPr>
          <a:xfrm>
            <a:off x="6277365" y="6284004"/>
            <a:ext cx="5646438" cy="542741"/>
            <a:chOff x="6277365" y="118439"/>
            <a:chExt cx="5646438" cy="542741"/>
          </a:xfrm>
        </p:grpSpPr>
        <p:pic>
          <p:nvPicPr>
            <p:cNvPr id="18" name="Google Shape;18;p22"/>
            <p:cNvPicPr preferRelativeResize="0"/>
            <p:nvPr/>
          </p:nvPicPr>
          <p:blipFill rotWithShape="1">
            <a:blip r:embed="rId14"/>
            <a:srcRect/>
            <a:stretch>
              <a:fillRect/>
            </a:stretch>
          </p:blipFill>
          <p:spPr>
            <a:xfrm>
              <a:off x="10236605" y="205974"/>
              <a:ext cx="1687198" cy="3376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2"/>
            <p:cNvPicPr preferRelativeResize="0"/>
            <p:nvPr/>
          </p:nvPicPr>
          <p:blipFill rotWithShape="1">
            <a:blip r:embed="rId15"/>
            <a:srcRect l="24600" t="60610" r="22079" b="20393"/>
            <a:stretch>
              <a:fillRect/>
            </a:stretch>
          </p:blipFill>
          <p:spPr>
            <a:xfrm>
              <a:off x="8358936" y="143709"/>
              <a:ext cx="1706857" cy="477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2"/>
            <p:cNvPicPr preferRelativeResize="0"/>
            <p:nvPr/>
          </p:nvPicPr>
          <p:blipFill rotWithShape="1">
            <a:blip r:embed="rId16"/>
            <a:srcRect/>
            <a:stretch>
              <a:fillRect/>
            </a:stretch>
          </p:blipFill>
          <p:spPr>
            <a:xfrm>
              <a:off x="6277365" y="118439"/>
              <a:ext cx="2081571" cy="5427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2" y="1719262"/>
            <a:ext cx="12192000" cy="4562475"/>
          </a:xfrm>
          <a:prstGeom prst="rect">
            <a:avLst/>
          </a:prstGeom>
        </p:spPr>
      </p:pic>
      <p:sp>
        <p:nvSpPr>
          <p:cNvPr id="108" name="Google Shape;108;p2"/>
          <p:cNvSpPr txBox="1"/>
          <p:nvPr/>
        </p:nvSpPr>
        <p:spPr>
          <a:xfrm>
            <a:off x="353412" y="194800"/>
            <a:ext cx="1183858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REVISÃO CONCEITOS – HERANÇA, CLASSE E MÉTODOS ABSTRATOS E INTERFACE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3682253" y="891256"/>
            <a:ext cx="4291853" cy="33823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Criar as classes abaixo de acordo com o diagrama</a:t>
            </a:r>
            <a:endParaRPr sz="11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2783543" y="1525000"/>
            <a:ext cx="1577789" cy="13829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Abstrata e método abstrato</a:t>
            </a:r>
            <a:endParaRPr sz="8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177113" y="2461469"/>
            <a:ext cx="1577789" cy="13829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Abstrata e método abstrato</a:t>
            </a:r>
            <a:endParaRPr sz="8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223689" y="2528703"/>
            <a:ext cx="1577789" cy="13829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Abstrata e método abstrato</a:t>
            </a:r>
            <a:endParaRPr sz="8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80682" y="3658257"/>
            <a:ext cx="699247" cy="12676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Concreta</a:t>
            </a:r>
            <a:endParaRPr sz="8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011709" y="3662740"/>
            <a:ext cx="699247" cy="12676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Concreta</a:t>
            </a:r>
            <a:endParaRPr sz="8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8650956" y="3676187"/>
            <a:ext cx="699247" cy="12676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Concreta</a:t>
            </a:r>
            <a:endParaRPr sz="8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6" descr="https://lh4.googleusercontent.com/12A6BAxC3iJ6xWBUMktBkgdPQjqkoHeM82tajsli2nz9xN5pXN4T9ur6qT-t6DKW3v39I8iflfa2okvKWhC4mMq17RGsFbT-Rsqrvh-sfoShQWrAyDiXn3prUwPbCfBgLpI9Z2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015" y="1039494"/>
            <a:ext cx="11563985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6"/>
          <p:cNvSpPr txBox="1"/>
          <p:nvPr/>
        </p:nvSpPr>
        <p:spPr>
          <a:xfrm>
            <a:off x="628015" y="187198"/>
            <a:ext cx="1420623" cy="40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 panose="020F0502020204030204"/>
              <a:buNone/>
            </a:pPr>
            <a:r>
              <a:rPr lang="pt-BR" sz="20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EXERCÍCIOS</a:t>
            </a:r>
            <a:endParaRPr sz="20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/>
        </p:nvSpPr>
        <p:spPr>
          <a:xfrm>
            <a:off x="465582" y="1017763"/>
            <a:ext cx="5431716" cy="2649060"/>
          </a:xfrm>
          <a:prstGeom prst="rect">
            <a:avLst/>
          </a:prstGeom>
          <a:solidFill>
            <a:srgbClr val="FFFFFF"/>
          </a:solidFill>
          <a:ln w="25550" cap="sq" cmpd="sng">
            <a:solidFill>
              <a:srgbClr val="4F81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000"/>
              <a:buFont typeface="Arial" panose="020B0604020202020204"/>
              <a:buNone/>
            </a:pPr>
            <a:r>
              <a:rPr lang="pt-BR" sz="1000" b="1">
                <a:solidFill>
                  <a:srgbClr val="1F497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Montar o diagrama de classes abaixo da seguinte forma: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200"/>
              <a:buFont typeface="Noto Sans Symbols"/>
              <a:buChar char="▪"/>
            </a:pPr>
            <a:r>
              <a:rPr lang="pt-BR" sz="1200" b="1">
                <a:solidFill>
                  <a:srgbClr val="1F497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Criar a interface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Oficina</a:t>
            </a:r>
            <a:r>
              <a:rPr lang="pt-BR" sz="1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 as assinaturas de métodos do diagrama.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▪"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Criar a classe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Proprietario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com o atributo e métodos do diagrama.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▪"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Criar a classe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Veiculo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sendo abstrata e implementando a interface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Oficina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▪"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Criar a classe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Carro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herdando de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Veiculo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▪"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Criar a classe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Moto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herdando de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Veiculo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▪"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Criar o Enum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TipoServico</a:t>
            </a:r>
            <a:r>
              <a:rPr lang="pt-BR" sz="12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que armazenará os preços dos serviços prestados pela Oficina: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Troca de Óleo = 100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Lavar = 50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Revisao = 200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sz="12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474345" y="3836035"/>
            <a:ext cx="5422900" cy="1569720"/>
          </a:xfrm>
          <a:prstGeom prst="rect">
            <a:avLst/>
          </a:prstGeom>
          <a:solidFill>
            <a:srgbClr val="FFFFFF"/>
          </a:solidFill>
          <a:ln w="25550" cap="sq" cmpd="sng">
            <a:solidFill>
              <a:srgbClr val="4F81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000"/>
              <a:buFont typeface="Arial" panose="020B0604020202020204"/>
              <a:buNone/>
            </a:pPr>
            <a:r>
              <a:rPr lang="pt-BR" sz="1200" b="1">
                <a:solidFill>
                  <a:srgbClr val="1F497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Métodos:</a:t>
            </a:r>
            <a:endParaRPr sz="12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Carro: 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 atributo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valorCobrado 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deverá acumular todos os serviços prestados.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TrocarOleo – Aos sábado o cliente terá desconto de 50,00 na troca de óleo.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Revisao – No mês de agosto o cliente terá 10% de desconto na revisão.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LavarVeiculo – O Valor cobrado será o  definido no Enum TipoServico.</a:t>
            </a:r>
            <a:endParaRPr sz="12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6210652" y="3836299"/>
            <a:ext cx="5755341" cy="1200150"/>
          </a:xfrm>
          <a:prstGeom prst="rect">
            <a:avLst/>
          </a:prstGeom>
          <a:solidFill>
            <a:srgbClr val="FFFFFF"/>
          </a:solidFill>
          <a:ln w="25550" cap="sq" cmpd="sng">
            <a:solidFill>
              <a:srgbClr val="4F81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000"/>
              <a:buFont typeface="Arial" panose="020B0604020202020204"/>
              <a:buNone/>
            </a:pPr>
            <a:r>
              <a:rPr lang="pt-BR" sz="1200" b="1">
                <a:solidFill>
                  <a:srgbClr val="1F497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Métodos:</a:t>
            </a:r>
            <a:endParaRPr sz="12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Moto:</a:t>
            </a:r>
            <a:endParaRPr sz="1200" b="1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TrocarOleo – O Valor cobrado será o  definido no Enum TipoServico.</a:t>
            </a:r>
            <a:endParaRPr sz="12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Revisao – O Valor cobrado será o  definido no Enum TipoServico.</a:t>
            </a:r>
            <a:endParaRPr sz="12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LavarVeiculo – O Valor cobrado será o  definido no Enum TipoServico.</a:t>
            </a:r>
            <a:endParaRPr sz="1200" b="1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6040120" y="1017905"/>
            <a:ext cx="5629275" cy="1384935"/>
          </a:xfrm>
          <a:prstGeom prst="rect">
            <a:avLst/>
          </a:prstGeom>
          <a:solidFill>
            <a:srgbClr val="FFFFFF"/>
          </a:solidFill>
          <a:ln w="25550" cap="sq" cmpd="sng">
            <a:solidFill>
              <a:srgbClr val="4F81B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900"/>
              <a:buFont typeface="Arial" panose="020B0604020202020204"/>
              <a:buNone/>
            </a:pPr>
            <a:r>
              <a:rPr lang="pt-BR" sz="1200" b="1">
                <a:solidFill>
                  <a:srgbClr val="1F497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Classe com o main:  Criar uma classe com o nome </a:t>
            </a:r>
            <a:r>
              <a:rPr lang="pt-BR" sz="1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TesteOficina</a:t>
            </a: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 realizar as seguintes operações: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900"/>
              <a:buFont typeface="Arial" panose="020B0604020202020204"/>
              <a:buNone/>
            </a:pPr>
            <a:endParaRPr lang="pt-BR" sz="1200" b="1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Criar um objeto do tipo carro 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Trocar o óleo e fazer a revisão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Exibir o nome do proprietário, os dados carro e o valor cobrado pelo serviço.</a:t>
            </a:r>
            <a:endParaRPr sz="1200" b="1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628015" y="187198"/>
            <a:ext cx="1420623" cy="40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 panose="020F0502020204030204"/>
              <a:buNone/>
            </a:pPr>
            <a:r>
              <a:rPr lang="pt-BR" sz="20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EXERCÍCIOS</a:t>
            </a:r>
            <a:endParaRPr sz="20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275</Words>
  <Application>Microsoft Office PowerPoint</Application>
  <PresentationFormat>Widescreen</PresentationFormat>
  <Paragraphs>36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Noto Sans Symbols</vt:lpstr>
      <vt:lpstr>Calibri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RÔMULO OLIVEIRA SCHANUEL</dc:creator>
  <cp:lastModifiedBy>Roni Schanuel</cp:lastModifiedBy>
  <cp:revision>15</cp:revision>
  <dcterms:created xsi:type="dcterms:W3CDTF">2020-08-02T23:45:00Z</dcterms:created>
  <dcterms:modified xsi:type="dcterms:W3CDTF">2026-04-09T23:06:12Z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31515CAFDA1F4103A566EFD69DE8E819</vt:lpwstr>
  </property>
  <property fmtid="{D5CDD505-2E9C-101B-9397-08002B2CF9AE}" pid="3" name="KSOProductBuildVer">
    <vt:lpwstr>1046-11.2.0.11306</vt:lpwstr>
  </property>
  <property fmtid="{D5CDD505-2E9C-101B-9397-08002B2CF9AE}" pid="4" name="MSIP_Label_5c88f678-0b6e-4995-8ab3-bcc8062be905_Enabled">
    <vt:lpwstr>true</vt:lpwstr>
  </property>
  <property fmtid="{D5CDD505-2E9C-101B-9397-08002B2CF9AE}" pid="5" name="MSIP_Label_5c88f678-0b6e-4995-8ab3-bcc8062be905_SetDate">
    <vt:lpwstr>2023-12-18T00:49:58Z</vt:lpwstr>
  </property>
  <property fmtid="{D5CDD505-2E9C-101B-9397-08002B2CF9AE}" pid="6" name="MSIP_Label_5c88f678-0b6e-4995-8ab3-bcc8062be905_Method">
    <vt:lpwstr>Standard</vt:lpwstr>
  </property>
  <property fmtid="{D5CDD505-2E9C-101B-9397-08002B2CF9AE}" pid="7" name="MSIP_Label_5c88f678-0b6e-4995-8ab3-bcc8062be905_Name">
    <vt:lpwstr>Ostensivo</vt:lpwstr>
  </property>
  <property fmtid="{D5CDD505-2E9C-101B-9397-08002B2CF9AE}" pid="8" name="MSIP_Label_5c88f678-0b6e-4995-8ab3-bcc8062be905_SiteId">
    <vt:lpwstr>d0c698d4-e4ea-4ee9-a79d-f2d7a78399c8</vt:lpwstr>
  </property>
  <property fmtid="{D5CDD505-2E9C-101B-9397-08002B2CF9AE}" pid="9" name="MSIP_Label_5c88f678-0b6e-4995-8ab3-bcc8062be905_ActionId">
    <vt:lpwstr>3b43e9c8-0b67-470c-ae56-c76944d16784</vt:lpwstr>
  </property>
  <property fmtid="{D5CDD505-2E9C-101B-9397-08002B2CF9AE}" pid="10" name="MSIP_Label_5c88f678-0b6e-4995-8ab3-bcc8062be905_ContentBits">
    <vt:lpwstr>0</vt:lpwstr>
  </property>
</Properties>
</file>